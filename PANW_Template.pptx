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432893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 WORKSHOP · 3.5 HOURS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918668"/>
            <a:ext cx="14716125" cy="20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400" b="1" spc="-25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Building AI agents for network automation.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143000" y="5212110"/>
            <a:ext cx="117729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72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LangGraph, Claude, and the Strata Cloud Manager — a workshop for network security engineers.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6720632"/>
            <a:ext cx="2658070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6911132"/>
            <a:ext cx="27378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>
                    <a:alpha val="5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7225457"/>
            <a:ext cx="27378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LangGraph · Claude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715470" y="6720632"/>
            <a:ext cx="2612678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15470" y="6911132"/>
            <a:ext cx="269105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>
                    <a:alpha val="5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15470" y="7225457"/>
            <a:ext cx="26910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core · 4 self-study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242548" y="6720632"/>
            <a:ext cx="3192214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42548" y="6911132"/>
            <a:ext cx="328798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>
                    <a:alpha val="5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PREREQS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42548" y="7225457"/>
            <a:ext cx="32879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basics · PAN-OS</a:t>
            </a:r>
            <a:endParaRPr lang="en-US" sz="2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811000" y="3457575"/>
            <a:ext cx="5715000" cy="5715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9820275"/>
            <a:ext cx="40401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naf-ai-agents-workshop · cdot65/github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WE'RE HERE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304925"/>
            <a:ext cx="15697200" cy="2835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automation scripts can't reason. AI agents can.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4293096"/>
            <a:ext cx="137350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We'll build the same kind of agent that reviews a firewall change, decides which tool to call, runs it, checks the result, and loops until it's done — on your own SCM tenant.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801618"/>
            <a:ext cx="5130701" cy="3294757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5425" y="6115943"/>
            <a:ext cx="45586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5425" y="6449318"/>
            <a:ext cx="4558626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b="1" spc="-198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3.5</a:t>
            </a:r>
            <a:pPr algn="l" indent="0" marL="0">
              <a:lnSpc>
                <a:spcPct val="90000"/>
              </a:lnSpc>
              <a:buNone/>
            </a:pPr>
            <a:r>
              <a:rPr lang="en-US" sz="3000" b="1" spc="-198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hr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495425" y="7355979"/>
            <a:ext cx="455862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sessions with breaks. Hands-on, not spectator.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78501" y="5801618"/>
            <a:ext cx="5130850" cy="3294757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0926" y="6115943"/>
            <a:ext cx="45587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30926" y="6449318"/>
            <a:ext cx="455878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b="1" spc="-198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6930926" y="7355979"/>
            <a:ext cx="45587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in the express path, four for self-study after.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014150" y="5801618"/>
            <a:ext cx="5130850" cy="3294757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66575" y="6115943"/>
            <a:ext cx="45587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COST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66575" y="6449318"/>
            <a:ext cx="455878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b="1" spc="-198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~$0.25</a:t>
            </a:r>
            <a:pPr algn="l" indent="0" marL="0">
              <a:lnSpc>
                <a:spcPct val="90000"/>
              </a:lnSpc>
              <a:buNone/>
            </a:pPr>
            <a:r>
              <a:rPr lang="en-US" sz="3000" b="1" spc="-198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12366575" y="7355979"/>
            <a:ext cx="45587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Haiku tokens. Phase 1 is free — mock data only.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 / 18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 THIS IS FOR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304925"/>
            <a:ext cx="14716125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engineers who write Python — not ML researchers.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855839"/>
            <a:ext cx="800557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54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You'll feel at home if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43000" y="458732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825454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05000" y="4825454"/>
            <a:ext cx="65525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manage PAN-OS configs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905000" y="5206454"/>
            <a:ext cx="65525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Zones, policies, address objects, NAT — the vocabulary is the workshop's.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571127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949404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05000" y="5949404"/>
            <a:ext cx="6189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write Python occasionally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905000" y="6330404"/>
            <a:ext cx="6189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Functions, dicts, loops — that's enough. No decorators-of-decorators.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7960072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683522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7073354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05000" y="7073354"/>
            <a:ext cx="49821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want real automation, not demos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905000" y="7454354"/>
            <a:ext cx="4982175" cy="315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example uses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pan-scm-sdk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patterns you can ship.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2600" y="3855839"/>
            <a:ext cx="800557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54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don't need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9372600" y="458732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4825454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134600" y="4825454"/>
            <a:ext cx="62909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 LangGraph experience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134600" y="5206454"/>
            <a:ext cx="62909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start at TypedDict and build up. No assumed framework knowledge.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372600" y="571127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5949404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34600" y="5949404"/>
            <a:ext cx="43029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Machine learning background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134600" y="6330404"/>
            <a:ext cx="43029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You'll use Claude, not train it. Zero linear algebra.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372600" y="795917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Shape 27"/>
          <p:cNvSpPr/>
          <p:nvPr/>
        </p:nvSpPr>
        <p:spPr>
          <a:xfrm>
            <a:off x="9372600" y="683522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7073354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34600" y="7073354"/>
            <a:ext cx="61424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local setup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0134600" y="7454354"/>
            <a:ext cx="61424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Codespaces gives you a pre-built environment in two minutes.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 / 18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30492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we'll cover today.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2770882"/>
            <a:ext cx="16002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09007"/>
            <a:ext cx="9525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400300" y="3085207"/>
            <a:ext cx="111221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Foundations — types, state, and your first graph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503325" y="3256657"/>
            <a:ext cx="25439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spc="113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101 · 102 · 103 · 104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428244" y="3237607"/>
            <a:ext cx="7929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90 min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51957"/>
            <a:ext cx="16002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90082"/>
            <a:ext cx="9525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400300" y="4066282"/>
            <a:ext cx="1189798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 routing — decisions inside a graph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4256544" y="4237732"/>
            <a:ext cx="1790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spc="113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428244" y="4218682"/>
            <a:ext cx="7929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75 min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43000" y="4733032"/>
            <a:ext cx="16002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971157"/>
            <a:ext cx="9525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2400300" y="5047357"/>
            <a:ext cx="1189798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integration — Claude, tools, and ReAct agents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4256544" y="5218807"/>
            <a:ext cx="1790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spc="113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108 · 110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428244" y="5199757"/>
            <a:ext cx="7929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75 min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6695182"/>
            <a:ext cx="16002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5714107"/>
            <a:ext cx="16002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952232"/>
            <a:ext cx="9525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2400300" y="6028432"/>
            <a:ext cx="11245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Self-study path — sequential, loops, memory, HITL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3622685" y="6199882"/>
            <a:ext cx="25439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spc="113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105 · 107 · 109 · 111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547604" y="6180832"/>
            <a:ext cx="6735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later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 / 18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Shape 1"/>
          <p:cNvSpPr/>
          <p:nvPr/>
        </p:nvSpPr>
        <p:spPr>
          <a:xfrm>
            <a:off x="13525500" y="5524500"/>
            <a:ext cx="6667500" cy="6667500"/>
          </a:xfrm>
          <a:prstGeom prst="rect">
            <a:avLst/>
          </a:prstGeom>
          <a:solidFill>
            <a:srgbClr val="FA582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401467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01 · 90 MINUTES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3849142"/>
            <a:ext cx="1569720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8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Foundations.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143000" y="5350222"/>
            <a:ext cx="117729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Type-safe state. Nodes that do one thing. Graphs that run. No API key required.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294983"/>
            <a:ext cx="1244947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6361658"/>
            <a:ext cx="10734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101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0347" y="6294983"/>
            <a:ext cx="1577280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4172" y="6361658"/>
            <a:ext cx="140583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 CONCEPTS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0028" y="6294983"/>
            <a:ext cx="1909762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3853" y="6361658"/>
            <a:ext cx="173831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103 FIRST GRAPH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32190" y="6294983"/>
            <a:ext cx="1244947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6015" y="6361658"/>
            <a:ext cx="10734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104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 / 18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62025"/>
            <a:ext cx="39839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101 · 10–15 MIN · DEMO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016484" y="914400"/>
            <a:ext cx="3128516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40309" y="981075"/>
            <a:ext cx="29747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101_type_annotations.ipynb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76375"/>
            <a:ext cx="1569720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TypedDict is the contract between your brain and the graph.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3531989"/>
            <a:ext cx="137350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a node runs, you declare exactly what shape the state has. Typos become errors, not 3 a.m. pages.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811911"/>
            <a:ext cx="7772400" cy="4774109"/>
          </a:xfrm>
          <a:prstGeom prst="roundRect">
            <a:avLst>
              <a:gd name="adj" fmla="val 1596"/>
            </a:avLst>
          </a:prstGeom>
          <a:solidFill>
            <a:srgbClr val="0D0D0D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9576495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811911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4811911"/>
            <a:ext cx="38100" cy="4774109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2" name="Shape 10"/>
          <p:cNvSpPr/>
          <p:nvPr/>
        </p:nvSpPr>
        <p:spPr>
          <a:xfrm>
            <a:off x="8905875" y="4811911"/>
            <a:ext cx="9525" cy="477410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85900" y="5088136"/>
            <a:ext cx="7348347" cy="4259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typing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TypedDict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Optional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AddressObject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TypedDict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name: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ip_netmask: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folder: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description: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Optional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web_server: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AddressObject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= {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"name"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"web-01"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"ip_netmask"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"10.1.1.50/32"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"folder"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"Production"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72600" y="5641181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5879306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34600" y="5879306"/>
            <a:ext cx="57276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schemas live here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134600" y="6260306"/>
            <a:ext cx="57276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LangGraph state you'll build is a TypedDict. No exceptions.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72600" y="6765131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7003256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134600" y="7003256"/>
            <a:ext cx="54923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Optional[...] means "maybe"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134600" y="7384256"/>
            <a:ext cx="549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Fields a node </a:t>
            </a:r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might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set. Read them defensively, don't assume.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72600" y="9013924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2600" y="7889081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8127206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34600" y="8127206"/>
            <a:ext cx="523342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shape matches SCM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134600" y="8508206"/>
            <a:ext cx="5233422" cy="315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fields above map 1:1 to a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pan-scm-sdk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address object.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 / 18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62025"/>
            <a:ext cx="41540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102 · 25 MIN · HANDS-ON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348817" y="914400"/>
            <a:ext cx="2796183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72642" y="981075"/>
            <a:ext cx="26324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102_core_concepts.ipynb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76375"/>
            <a:ext cx="1569720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pieces. Learn them once, use them forever.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3531989"/>
            <a:ext cx="137350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graph you'll write — from a 1-node validator to a 20-node ReAct agent — is these four primitives composed differently.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964311"/>
            <a:ext cx="3800475" cy="381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269111"/>
            <a:ext cx="391448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264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143000" y="6335911"/>
            <a:ext cx="39144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75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6785372"/>
            <a:ext cx="3914489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TypedDict that flows through every node. Read what you need, return what you changed.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0175" y="4964311"/>
            <a:ext cx="3800475" cy="381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3" name="Text 11"/>
          <p:cNvSpPr/>
          <p:nvPr/>
        </p:nvSpPr>
        <p:spPr>
          <a:xfrm>
            <a:off x="5210175" y="5269111"/>
            <a:ext cx="391448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264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5210175" y="6335911"/>
            <a:ext cx="39144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75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210175" y="6785372"/>
            <a:ext cx="3914489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Plain Python functions. Take state in, return a partial state dict. One job each.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277350" y="4964311"/>
            <a:ext cx="3800475" cy="381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7" name="Text 15"/>
          <p:cNvSpPr/>
          <p:nvPr/>
        </p:nvSpPr>
        <p:spPr>
          <a:xfrm>
            <a:off x="9277350" y="5269111"/>
            <a:ext cx="391448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264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9277350" y="6335911"/>
            <a:ext cx="39144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75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EDGES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277350" y="6785372"/>
            <a:ext cx="3914489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Wires between nodes. Ordinary or conditional — they decide what runs next.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44525" y="4964311"/>
            <a:ext cx="3800475" cy="381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21" name="Text 19"/>
          <p:cNvSpPr/>
          <p:nvPr/>
        </p:nvSpPr>
        <p:spPr>
          <a:xfrm>
            <a:off x="13344525" y="5269111"/>
            <a:ext cx="391448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264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3344525" y="6335911"/>
            <a:ext cx="39144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75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344525" y="6785372"/>
            <a:ext cx="3914489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StateGraph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build, then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.compile()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into a runnable app.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 / 18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62025"/>
            <a:ext cx="36109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103 · 15 MIN · DEMO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016484" y="914400"/>
            <a:ext cx="3128516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40309" y="981075"/>
            <a:ext cx="29747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103_your_first_graph.ipynb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76375"/>
            <a:ext cx="1569720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→ node → END.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2599432"/>
            <a:ext cx="137350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simplest graph is three pieces. Everything else is variations on this.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3476923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0650" y="3705523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57500" y="3810298"/>
            <a:ext cx="5100489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7957989" y="3334048"/>
            <a:ext cx="2372023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3739" y="3562648"/>
            <a:ext cx="18767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validate_address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05639" y="3896023"/>
            <a:ext cx="187672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checks IP format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330011" y="3810298"/>
            <a:ext cx="5100489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5430500" y="3476923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78150" y="3705523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4705052"/>
            <a:ext cx="16002000" cy="4124623"/>
          </a:xfrm>
          <a:prstGeom prst="roundRect">
            <a:avLst>
              <a:gd name="adj" fmla="val 1847"/>
            </a:avLst>
          </a:prstGeom>
          <a:solidFill>
            <a:srgbClr val="0D0D0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8820150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705052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4705052"/>
            <a:ext cx="38100" cy="4124623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21" name="Shape 19"/>
          <p:cNvSpPr/>
          <p:nvPr/>
        </p:nvSpPr>
        <p:spPr>
          <a:xfrm>
            <a:off x="17135475" y="4705052"/>
            <a:ext cx="9525" cy="41246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485900" y="4981277"/>
            <a:ext cx="15824835" cy="3610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validate_address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(state: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AddressState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-&gt;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dict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is_valid = is_valid_cidr(state[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"ip_netmask"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{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"valid"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is_valid,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"checked_at"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now()}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 =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StateGraph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AddressState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graph.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add_node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"validate"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validate_address)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graph.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set_entry_point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"validate"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graph.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set_finish_point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"validate"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 = graph.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compile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result = app.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invoke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({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"ip_netmask"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"10.1.1.50/32"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"name"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"web-01"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})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 / 18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62025"/>
            <a:ext cx="41540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104 · 25 MIN · HANDS-ON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016484" y="914400"/>
            <a:ext cx="3128516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40309" y="981075"/>
            <a:ext cx="29747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104_state_management.ipynb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76375"/>
            <a:ext cx="1569720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workflows carry a dozen fields.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2599432"/>
            <a:ext cx="137350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Strings, lists, nested dicts, running counters, validation flags. Design the state first — the nodes almost write themselves.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3955554"/>
            <a:ext cx="7772400" cy="5098852"/>
          </a:xfrm>
          <a:prstGeom prst="roundRect">
            <a:avLst>
              <a:gd name="adj" fmla="val 1494"/>
            </a:avLst>
          </a:prstGeom>
          <a:solidFill>
            <a:srgbClr val="0D0D0D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9044880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955554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3955554"/>
            <a:ext cx="38100" cy="5098852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2" name="Shape 10"/>
          <p:cNvSpPr/>
          <p:nvPr/>
        </p:nvSpPr>
        <p:spPr>
          <a:xfrm>
            <a:off x="8905875" y="3955554"/>
            <a:ext cx="9525" cy="50988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85900" y="4231779"/>
            <a:ext cx="7348347" cy="4584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SCMWorkflowState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TypedDict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8888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Input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rule_name: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source_zones: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action: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Literal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"allow"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"deny"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8888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Progress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validated: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bool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errors: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retry_count: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8888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Output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scm_rule_id: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Optional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committed_at: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Optional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72600" y="4947196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5185321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34600" y="5185321"/>
            <a:ext cx="691305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 fields by purpose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134600" y="5566321"/>
            <a:ext cx="69130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Input, progress, output. A reader should grasp the flow from the schema alone.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72600" y="6071146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6309271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134600" y="6309271"/>
            <a:ext cx="59163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defensively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134600" y="6690271"/>
            <a:ext cx="5916342" cy="315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state.get("errors", [])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don't assume earlier nodes ran.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72600" y="831993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2600" y="7195989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7434114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34600" y="7434114"/>
            <a:ext cx="6100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 partial updates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134600" y="7815114"/>
            <a:ext cx="6100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node returns only the fields it changed. LangGraph merges the rest.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 / 18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Shape 1"/>
          <p:cNvSpPr/>
          <p:nvPr/>
        </p:nvSpPr>
        <p:spPr>
          <a:xfrm>
            <a:off x="13525500" y="5524500"/>
            <a:ext cx="6667500" cy="6667500"/>
          </a:xfrm>
          <a:prstGeom prst="rect">
            <a:avLst/>
          </a:prstGeom>
          <a:solidFill>
            <a:srgbClr val="FA582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195786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02 · 75 MINUTES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3643461"/>
            <a:ext cx="1569720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8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 routing.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143000" y="5144542"/>
            <a:ext cx="117729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Decisions inside a graph. Think ACLs for your workflow — what matches goes where.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500664"/>
            <a:ext cx="1466552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6567339"/>
            <a:ext cx="12951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106 ROUTING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 / 18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62025"/>
            <a:ext cx="4527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106 · 30–35 MIN · HANDS-ON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684002" y="914400"/>
            <a:ext cx="3460998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07827" y="981075"/>
            <a:ext cx="33171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106_conditional_routing.ipynb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76375"/>
            <a:ext cx="1569720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router function decides the path — without touching the state.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143000" y="3910608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0650" y="4139208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57500" y="4243983"/>
            <a:ext cx="1399729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257229" y="3767733"/>
            <a:ext cx="2286000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8988" y="3996333"/>
            <a:ext cx="8786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4879" y="4329708"/>
            <a:ext cx="17907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inspects state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43229" y="4243983"/>
            <a:ext cx="1399877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43106" y="3767733"/>
            <a:ext cx="2293293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00C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154" y="3996333"/>
            <a:ext cx="15052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0196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address_type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90756" y="4329708"/>
            <a:ext cx="17979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FQDN / IP / range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236398" y="4243983"/>
            <a:ext cx="1399729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36127" y="3767733"/>
            <a:ext cx="2394496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00C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64479" y="3996333"/>
            <a:ext cx="12139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0F93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env_router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3777" y="4329708"/>
            <a:ext cx="189919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dev / stage / prod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030623" y="4243983"/>
            <a:ext cx="1399877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15430500" y="3910608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678150" y="4139208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5089327"/>
            <a:ext cx="16002000" cy="3740348"/>
          </a:xfrm>
          <a:prstGeom prst="roundRect">
            <a:avLst>
              <a:gd name="adj" fmla="val 2037"/>
            </a:avLst>
          </a:prstGeom>
          <a:solidFill>
            <a:srgbClr val="0D0D0D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8820150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5089327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5089327"/>
            <a:ext cx="38100" cy="3740348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7135475" y="5089327"/>
            <a:ext cx="9525" cy="374034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" y="5365552"/>
            <a:ext cx="15824835" cy="3225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route_by_env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(state: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-&gt;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Literal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"dev"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"stage"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"prod"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]: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i="1" dirty="0">
                <a:solidFill>
                  <a:srgbClr val="8888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Router returns the edge name — doesn't modify state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state[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"folder"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].lower()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graph.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add_conditional_edges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source=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"classify"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path=route_by_env,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path_map={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"dev"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"dev_checks"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"stage"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"stage_checks"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"prod"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"prod_checks"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},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 / 18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Shape 1"/>
          <p:cNvSpPr/>
          <p:nvPr/>
        </p:nvSpPr>
        <p:spPr>
          <a:xfrm>
            <a:off x="13525500" y="5524500"/>
            <a:ext cx="6667500" cy="6667500"/>
          </a:xfrm>
          <a:prstGeom prst="rect">
            <a:avLst/>
          </a:prstGeom>
          <a:solidFill>
            <a:srgbClr val="FA582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195786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03 · 75 MINUTES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3643461"/>
            <a:ext cx="1569720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8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integration.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143000" y="5144542"/>
            <a:ext cx="117729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Plug Claude into the graph. Then give it tools and watch it reason about which to call.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500664"/>
            <a:ext cx="1023342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6567339"/>
            <a:ext cx="8518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108 LLM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18742" y="6500664"/>
            <a:ext cx="1244947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2567" y="6567339"/>
            <a:ext cx="10734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110 REACT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 / 18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62025"/>
            <a:ext cx="39839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108 · 20–25 MIN · DEMO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462397" y="914400"/>
            <a:ext cx="3682603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86222" y="981075"/>
            <a:ext cx="35454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108_first_llm_integration.ipynb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76375"/>
            <a:ext cx="1569720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node can call Claude. That's it — that's the whole trick.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3531989"/>
            <a:ext cx="137350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graph doesn't care whether a node calls a function, a database, or an LLM. It's all just state in, state out.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888111"/>
            <a:ext cx="7772400" cy="3475137"/>
          </a:xfrm>
          <a:prstGeom prst="roundRect">
            <a:avLst>
              <a:gd name="adj" fmla="val 2193"/>
            </a:avLst>
          </a:prstGeom>
          <a:solidFill>
            <a:srgbClr val="0D0D0D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8353723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888111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4888111"/>
            <a:ext cx="38100" cy="3475137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2" name="Shape 10"/>
          <p:cNvSpPr/>
          <p:nvPr/>
        </p:nvSpPr>
        <p:spPr>
          <a:xfrm>
            <a:off x="8905875" y="4888111"/>
            <a:ext cx="9525" cy="347513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85900" y="5164336"/>
            <a:ext cx="7348347" cy="2960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langchain_anthropic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ChatAnthropic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langchain_core.messages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HumanMessage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llm =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ChatAnthropic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(model=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"claude-haiku-4-5"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panos_bot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(state: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BotState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-&gt;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dict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question = state[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"question"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reply = llm.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invoke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HumanMessage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(content=question)])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{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"answer"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reply.content}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72600" y="5301555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5539680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34600" y="5539680"/>
            <a:ext cx="5909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Stateless by default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134600" y="5920680"/>
            <a:ext cx="59099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invocation is fresh. The bot won't remember the last question.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72600" y="6425505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6663630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134600" y="6663630"/>
            <a:ext cx="67703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HumanMessage / AIMessage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134600" y="7044630"/>
            <a:ext cx="67703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LangChain's wrappers for user and model turns. You'll see these everywhere.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72600" y="8673405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2600" y="7549455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7787580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34600" y="7787580"/>
            <a:ext cx="5946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Memory is next (109)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134600" y="8168580"/>
            <a:ext cx="59463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 the history back in. Or — skip ahead — let a reducer handle it.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 / 18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62025"/>
            <a:ext cx="45336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110 · CAPSTONE · 30–35 MIN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240792" y="914400"/>
            <a:ext cx="3904208" cy="314325"/>
          </a:xfrm>
          <a:prstGeom prst="roundRect">
            <a:avLst>
              <a:gd name="adj" fmla="val 12121"/>
            </a:avLst>
          </a:prstGeom>
          <a:solidFill>
            <a:srgbClr val="FA582D">
              <a:alpha val="10000"/>
            </a:srgbClr>
          </a:solidFill>
          <a:ln w="9525">
            <a:solidFill>
              <a:srgbClr val="FA582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64617" y="981075"/>
            <a:ext cx="377368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110_react_agents_with_tools.ipynb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76375"/>
            <a:ext cx="1569720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— the pattern every agent uses.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3531989"/>
            <a:ext cx="137350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LLM 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spc="-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reasons </a:t>
            </a:r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about what to do. A tool 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spc="-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acts</a:t>
            </a:r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The result feeds back in. Loop until done.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552950"/>
            <a:ext cx="5105400" cy="2328863"/>
          </a:xfrm>
          <a:prstGeom prst="roundRect">
            <a:avLst>
              <a:gd name="adj" fmla="val 4908"/>
            </a:avLst>
          </a:prstGeom>
          <a:solidFill>
            <a:srgbClr val="FFFFFF">
              <a:alpha val="3000"/>
            </a:srgbClr>
          </a:solidFill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8750" y="4876800"/>
            <a:ext cx="46699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01 · REASON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28750" y="5200650"/>
            <a:ext cx="466991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3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plans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28750" y="5743575"/>
            <a:ext cx="466991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>
                    <a:alpha val="7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Given the user's ask and the running message history, the model picks which tool to call — or decides it's done.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591300" y="4552950"/>
            <a:ext cx="5105400" cy="2328863"/>
          </a:xfrm>
          <a:prstGeom prst="roundRect">
            <a:avLst>
              <a:gd name="adj" fmla="val 4908"/>
            </a:avLst>
          </a:prstGeom>
          <a:solidFill>
            <a:srgbClr val="FFFFFF">
              <a:alpha val="3000"/>
            </a:srgbClr>
          </a:solidFill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7050" y="4876800"/>
            <a:ext cx="46699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02 · ACT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877050" y="5200650"/>
            <a:ext cx="466991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3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 executes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877050" y="5743575"/>
            <a:ext cx="466991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>
                    <a:alpha val="7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Python function runs against SCM. Checks a version, drafts a rule, fetches a group. Returns a string.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2039600" y="4552950"/>
            <a:ext cx="5105400" cy="2328863"/>
          </a:xfrm>
          <a:prstGeom prst="roundRect">
            <a:avLst>
              <a:gd name="adj" fmla="val 4908"/>
            </a:avLst>
          </a:prstGeom>
          <a:solidFill>
            <a:srgbClr val="FFFFFF">
              <a:alpha val="3000"/>
            </a:srgbClr>
          </a:solidFill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25350" y="4876800"/>
            <a:ext cx="46699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03 · OBSERVE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325350" y="5200650"/>
            <a:ext cx="466991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3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Loop back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325350" y="5743575"/>
            <a:ext cx="466991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>
                    <a:alpha val="7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tool's output is appended to the messages. Claude sees it next turn and decides what's next.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 / 18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110 · THE TWO IDEAS THAT MAKE IT 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304925"/>
            <a:ext cx="15697200" cy="1979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add_messages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reducer and the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@tool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decorator.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703439"/>
            <a:ext cx="80055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REDUCER — APPENDS INSTEAD OF OVERWRITES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43000" y="4074914"/>
            <a:ext cx="7772400" cy="3475137"/>
          </a:xfrm>
          <a:prstGeom prst="roundRect">
            <a:avLst>
              <a:gd name="adj" fmla="val 2193"/>
            </a:avLst>
          </a:prstGeom>
          <a:solidFill>
            <a:srgbClr val="0D0D0D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7540526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074914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074914"/>
            <a:ext cx="38100" cy="3475137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0" name="Shape 8"/>
          <p:cNvSpPr/>
          <p:nvPr/>
        </p:nvSpPr>
        <p:spPr>
          <a:xfrm>
            <a:off x="8905875" y="4074914"/>
            <a:ext cx="9525" cy="347513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4351139"/>
            <a:ext cx="7348347" cy="2960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typing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Annotated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Sequence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langgraph.graph.message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add_messages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langchain_core.messages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BaseMessage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AgentState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TypedDict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messages: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Annotated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Sequence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BaseMessage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],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add_messages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]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72600" y="3703439"/>
            <a:ext cx="80055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 — THE DOCSTRING IS THE PROMPT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72600" y="4074914"/>
            <a:ext cx="7772400" cy="3799880"/>
          </a:xfrm>
          <a:prstGeom prst="roundRect">
            <a:avLst>
              <a:gd name="adj" fmla="val 2005"/>
            </a:avLst>
          </a:prstGeom>
          <a:solidFill>
            <a:srgbClr val="0D0D0D"/>
          </a:solidFill>
          <a:ln/>
        </p:spPr>
      </p:sp>
      <p:sp>
        <p:nvSpPr>
          <p:cNvPr id="14" name="Shape 12"/>
          <p:cNvSpPr/>
          <p:nvPr/>
        </p:nvSpPr>
        <p:spPr>
          <a:xfrm>
            <a:off x="9372600" y="7865269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4074914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72600" y="4074914"/>
            <a:ext cx="38100" cy="379988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135475" y="4074914"/>
            <a:ext cx="9525" cy="37998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4351139"/>
            <a:ext cx="7348347" cy="3285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langchain_core.tools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tool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@tool def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get_panos_version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(hostname: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-&gt;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E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"""Return the PAN-OS version on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a firewall. Use when the user asks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5E08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about upgrades."""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F9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scm.firewalls.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(hostname).version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 = llm.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D6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bind_tools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E6E6"/>
                </a:solidFill>
                <a:highlight>
                  <a:srgbClr val="0D0D0D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([get_panos_version])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7667625"/>
            <a:ext cx="7848600" cy="28575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924800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05000" y="7924800"/>
            <a:ext cx="57734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reducer saves you from manual appends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905000" y="8305800"/>
            <a:ext cx="57734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message — user, AI, tool — auto-lands on the list in order.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296400" y="9086850"/>
            <a:ext cx="78486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Shape 22"/>
          <p:cNvSpPr/>
          <p:nvPr/>
        </p:nvSpPr>
        <p:spPr>
          <a:xfrm>
            <a:off x="9296400" y="7667625"/>
            <a:ext cx="7848600" cy="28575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25" name="Text 23"/>
          <p:cNvSpPr/>
          <p:nvPr/>
        </p:nvSpPr>
        <p:spPr>
          <a:xfrm>
            <a:off x="9296400" y="7924800"/>
            <a:ext cx="609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☁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58400" y="7924800"/>
            <a:ext cx="72991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docstring is the tool's contract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058400" y="8305800"/>
            <a:ext cx="729919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reads it to decide when to call the tool. Write it for your model, not your reviewer.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 / 18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THE WORKSHOP · 2–3 HOURS SELF-PACED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304925"/>
            <a:ext cx="1569720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more patterns for production agents.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703439"/>
            <a:ext cx="7848600" cy="2544068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9225" y="3941564"/>
            <a:ext cx="75150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105 · 35 MIN · EXTENDED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419225" y="4208264"/>
            <a:ext cx="75150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Sequential workflows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9225" y="4579739"/>
            <a:ext cx="751503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Chain nodes with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add_edge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Build Tag → Address → Group pipelines with proper error propagation.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419225" y="5742682"/>
            <a:ext cx="729615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1419225" y="5866507"/>
            <a:ext cx="75150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105_sequential_workflows.ipynb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9296400" y="3703439"/>
            <a:ext cx="7848600" cy="2544068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2625" y="3941564"/>
            <a:ext cx="75150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107 · 25 MIN · ADVANCED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72625" y="4208264"/>
            <a:ext cx="75150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Looping workflows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72625" y="4579739"/>
            <a:ext cx="751503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Self-referencing edges for retries and pagination. Always check your counter </a:t>
            </a:r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success condition.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572625" y="5742682"/>
            <a:ext cx="729615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9572625" y="5866507"/>
            <a:ext cx="75150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107_looping_workflows.ipynb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43000" y="6552307"/>
            <a:ext cx="7848600" cy="2544068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9225" y="6790432"/>
            <a:ext cx="75150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109 · 25 MIN · EXTENDED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19225" y="7057132"/>
            <a:ext cx="75150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Conversational memory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9225" y="7428607"/>
            <a:ext cx="751503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Manual history management. Trimming strategies. What a 50-turn conversation actually costs in tokens.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419225" y="8591550"/>
            <a:ext cx="729615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1419225" y="8715375"/>
            <a:ext cx="75150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109_conversational_memory.ipynb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9296400" y="6552307"/>
            <a:ext cx="7848600" cy="2544068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72625" y="6790432"/>
            <a:ext cx="75150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111 · 20 MIN · ADVANCED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9572625" y="7057132"/>
            <a:ext cx="75150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72625" y="7428607"/>
            <a:ext cx="751503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Pause for approval before a destructive action. The agent drafts; a human says ship-it or iterate.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9572625" y="8591550"/>
            <a:ext cx="729615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Text 26"/>
          <p:cNvSpPr/>
          <p:nvPr/>
        </p:nvSpPr>
        <p:spPr>
          <a:xfrm>
            <a:off x="9572625" y="8715375"/>
            <a:ext cx="75150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111_human_in_the_loop.ipynb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 / 18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YOU'LL WALK OUT WITH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304925"/>
            <a:ext cx="15697200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patterns. Combine them to build anything.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703439"/>
            <a:ext cx="5156150" cy="2676376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9225" y="3941564"/>
            <a:ext cx="47418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PATTERN 01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419225" y="4208264"/>
            <a:ext cx="47418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Single-node graph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9225" y="4579739"/>
            <a:ext cx="4741811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→ node → END. The foundation every other pattern builds on.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419225" y="5874990"/>
            <a:ext cx="46037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1419225" y="5998815"/>
            <a:ext cx="47418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103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565850" y="3703439"/>
            <a:ext cx="5156150" cy="2676376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2075" y="3941564"/>
            <a:ext cx="47418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PATTERN 02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842075" y="4208264"/>
            <a:ext cx="47418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Sequential pipeline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42075" y="4579739"/>
            <a:ext cx="4741811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 → create → verify. State accumulates as it flows.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6842075" y="5874990"/>
            <a:ext cx="46037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6842075" y="5998815"/>
            <a:ext cx="47418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105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988701" y="3703439"/>
            <a:ext cx="5156150" cy="2676376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64926" y="3941564"/>
            <a:ext cx="47418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PATTERN 03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2264926" y="4208264"/>
            <a:ext cx="47418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 routing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264926" y="4579739"/>
            <a:ext cx="4741811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 function returns an edge name. No state mutation.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2264926" y="5874990"/>
            <a:ext cx="46037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12264926" y="5998815"/>
            <a:ext cx="47418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106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1143000" y="6646515"/>
            <a:ext cx="5156150" cy="244986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9225" y="6884640"/>
            <a:ext cx="47418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PATTERN 04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419225" y="7151340"/>
            <a:ext cx="47418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Looping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9225" y="7522815"/>
            <a:ext cx="4741811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Counter-based termination. Check max </a:t>
            </a:r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success.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1419225" y="8591550"/>
            <a:ext cx="46037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Text 26"/>
          <p:cNvSpPr/>
          <p:nvPr/>
        </p:nvSpPr>
        <p:spPr>
          <a:xfrm>
            <a:off x="1419225" y="8715375"/>
            <a:ext cx="47418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107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6565850" y="6646515"/>
            <a:ext cx="5156150" cy="244986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2075" y="6884640"/>
            <a:ext cx="47418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PATTERN 05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842075" y="7151340"/>
            <a:ext cx="47418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agent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42075" y="7522815"/>
            <a:ext cx="4741811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bind_tools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add_messages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The LLM drives.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6842075" y="8591550"/>
            <a:ext cx="46037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4" name="Text 32"/>
          <p:cNvSpPr/>
          <p:nvPr/>
        </p:nvSpPr>
        <p:spPr>
          <a:xfrm>
            <a:off x="6842075" y="8715375"/>
            <a:ext cx="47418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110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11988701" y="6646515"/>
            <a:ext cx="5156150" cy="244986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264926" y="6884640"/>
            <a:ext cx="47418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PATTERN 06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2264926" y="7151340"/>
            <a:ext cx="47418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264926" y="7522815"/>
            <a:ext cx="4741811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Interrupt for approval. Humans still ship the change.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12264926" y="8591550"/>
            <a:ext cx="46037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0" name="Text 38"/>
          <p:cNvSpPr/>
          <p:nvPr/>
        </p:nvSpPr>
        <p:spPr>
          <a:xfrm>
            <a:off x="12264926" y="8715375"/>
            <a:ext cx="47418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6666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notebook 111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0" y="9553575"/>
            <a:ext cx="18288000" cy="733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1143000" y="9820275"/>
            <a:ext cx="7987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5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 / 18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3" name="Shape 1"/>
          <p:cNvSpPr/>
          <p:nvPr/>
        </p:nvSpPr>
        <p:spPr>
          <a:xfrm>
            <a:off x="13525500" y="5524500"/>
            <a:ext cx="6667500" cy="6667500"/>
          </a:xfrm>
          <a:prstGeom prst="rect">
            <a:avLst/>
          </a:prstGeom>
          <a:solidFill>
            <a:srgbClr val="FA582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18435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25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WE'VE GOT NEXT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2670125"/>
            <a:ext cx="15697200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0" b="1" spc="-243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Let's build something.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1143000" y="3914031"/>
            <a:ext cx="137350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spc="-12" kern="0" dirty="0">
                <a:solidFill>
                  <a:srgbClr val="FFFFFF">
                    <a:alpha val="72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Codespaces, grab an API key, and work through the notebooks in order. Break things. Read the errors. Ask questions.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481614"/>
            <a:ext cx="6858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422553"/>
            <a:ext cx="70637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01 · FORK THE REPO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143000" y="5670203"/>
            <a:ext cx="70637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cdot65/naf-ai-agents-workshop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6051203"/>
            <a:ext cx="706374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Click Fork, then open it in your own Codespace.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72500" y="6481614"/>
            <a:ext cx="6858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72500" y="5422553"/>
            <a:ext cx="70637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02 · LAUNCH CODESPACE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572500" y="5670203"/>
            <a:ext cx="70637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setup · make jupyter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572500" y="6051203"/>
            <a:ext cx="706374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minutes to a working Jupyter Lab in your browser.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7816900"/>
            <a:ext cx="6858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757839"/>
            <a:ext cx="70637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03 · ADD YOUR KEY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143000" y="7005489"/>
            <a:ext cx="70637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 .env.template .env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3000" y="7386489"/>
            <a:ext cx="706374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Anthropic console → API keys. Only needed from 108 onward.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572500" y="7816900"/>
            <a:ext cx="6858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72500" y="6757839"/>
            <a:ext cx="70637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A582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04 · OPEN 101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572500" y="7005489"/>
            <a:ext cx="70637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notebooks/101_type_annotations.ipynb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572500" y="7386489"/>
            <a:ext cx="706374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the first cell. You're underway.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9820275"/>
            <a:ext cx="42528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github.com/cdot65/naf-ai-agents-workshop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095190" y="9782175"/>
            <a:ext cx="212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paloaltonetworks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2026-04-23T18:30:39Z</dcterms:created>
  <dcterms:modified xsi:type="dcterms:W3CDTF">2026-04-23T18:30:39Z</dcterms:modified>
</cp:coreProperties>
</file>